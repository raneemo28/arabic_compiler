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598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aneemo28/Arabic_Compiler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"/>
            <a:ext cx="2286000" cy="2286000"/>
          </a:xfrm>
          <a:prstGeom prst="ellipse">
            <a:avLst/>
          </a:prstGeom>
          <a:solidFill>
            <a:srgbClr val="D4AF37">
              <a:alpha val="15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91440"/>
            <a:ext cx="1371600" cy="1371600"/>
          </a:xfrm>
          <a:prstGeom prst="ellipse">
            <a:avLst/>
          </a:prstGeom>
          <a:solidFill>
            <a:srgbClr val="F0CB6A">
              <a:alpha val="22000"/>
            </a:srgbClr>
          </a:solidFill>
          <a:ln w="12700">
            <a:solidFill>
              <a:srgbClr val="F0CB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657600"/>
            <a:ext cx="1828800" cy="1828800"/>
          </a:xfrm>
          <a:prstGeom prst="ellipse">
            <a:avLst/>
          </a:prstGeom>
          <a:solidFill>
            <a:srgbClr val="00BFA5">
              <a:alpha val="12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45720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D4AF37">
              <a:alpha val="85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0" y="457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.arweb compiler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مترجم عربي ويب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Arabic-keyword Web Compiler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0" y="2926080"/>
            <a:ext cx="164592" cy="164592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52360" y="2926080"/>
            <a:ext cx="164592" cy="164592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0" y="2926080"/>
            <a:ext cx="164592" cy="164592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12280" y="2926080"/>
            <a:ext cx="164592" cy="164592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2926080"/>
            <a:ext cx="164592" cy="164592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ar-AE" sz="1600" dirty="0">
                <a:solidFill>
                  <a:srgbClr val="F0C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عمرو نموره , رنيم العابد , اليسار عثمان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C8D8E8"/>
                </a:solidFill>
                <a:latin typeface="Arial" pitchFamily="34" charset="0"/>
                <a:cs typeface="Arial" pitchFamily="34" charset="-120"/>
              </a:rPr>
              <a:t>HIAST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434840"/>
            <a:ext cx="1005840" cy="347472"/>
          </a:xfrm>
          <a:prstGeom prst="roundRect">
            <a:avLst>
              <a:gd name="adj" fmla="val 26316"/>
            </a:avLst>
          </a:prstGeom>
          <a:solidFill>
            <a:srgbClr val="1B2A3B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4348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00200" y="4434840"/>
            <a:ext cx="1005840" cy="347472"/>
          </a:xfrm>
          <a:prstGeom prst="roundRect">
            <a:avLst>
              <a:gd name="adj" fmla="val 26316"/>
            </a:avLst>
          </a:prstGeom>
          <a:solidFill>
            <a:srgbClr val="1B2A3B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00200" y="44348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ANTLR4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0" y="4434840"/>
            <a:ext cx="1005840" cy="347472"/>
          </a:xfrm>
          <a:prstGeom prst="roundRect">
            <a:avLst>
              <a:gd name="adj" fmla="val 26316"/>
            </a:avLst>
          </a:prstGeom>
          <a:solidFill>
            <a:srgbClr val="1B2A3B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0" y="44348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.g4 Grammar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فكرة المشروع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Idea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162234"/>
          </a:solidFill>
          <a:ln w="12700">
            <a:solidFill>
              <a:srgbClr val="D4AF37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70432"/>
            <a:ext cx="822960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تتيح كتابة صفحات ويب باستخدام كلمات مفتاحية عربية بدلاً </a:t>
            </a:r>
            <a:r>
              <a:rPr lang="en-US" sz="1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الإنجليزية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r>
              <a:rPr lang="ar-AE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م</a:t>
            </a:r>
            <a:r>
              <a:rPr lang="en-US" sz="1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يخفّف الحاجز اللغوي للمطوّرين </a:t>
            </a:r>
            <a:r>
              <a:rPr lang="en-US" sz="1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الناطقين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بالعربية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0A1520"/>
          </a:solidFill>
          <a:ln w="12700">
            <a:solidFill>
              <a:srgbClr val="445566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(English)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496312"/>
            <a:ext cx="38404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x: number = 5;
</a:t>
            </a:r>
            <a:r>
              <a:rPr lang="en-US" sz="125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.getElementById("btn")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214884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0A1520"/>
          </a:solidFill>
          <a:ln w="12700">
            <a:solidFill>
              <a:srgbClr val="D4AF37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10" name="Text 8"/>
          <p:cNvSpPr/>
          <p:nvPr/>
        </p:nvSpPr>
        <p:spPr>
          <a:xfrm>
            <a:off x="4846320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ar-AE" sz="1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عربي </a:t>
            </a:r>
            <a:r>
              <a:rPr lang="en-US" sz="1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</a:t>
            </a:r>
            <a:r>
              <a:rPr lang="en-US" sz="1100" dirty="0" err="1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arweb</a:t>
            </a:r>
            <a:r>
              <a:rPr lang="en-US" sz="1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2496312"/>
            <a:ext cx="38404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 rtl="1">
              <a:buNone/>
            </a:pPr>
            <a:r>
              <a:rPr lang="en-US" sz="1250" b="1" dirty="0" err="1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ثابت</a:t>
            </a: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س:</a:t>
            </a:r>
            <a:r>
              <a:rPr lang="ar-SY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عدد</a:t>
            </a: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٥؛
</a:t>
            </a:r>
            <a:r>
              <a:rPr lang="en-US" sz="1250" b="1" dirty="0" err="1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الوثيقة</a:t>
            </a:r>
            <a:r>
              <a:rPr lang="en-US" sz="1250" dirty="0" err="1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.احضرعنصر</a:t>
            </a:r>
            <a:r>
              <a:rPr lang="ar-AE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r>
              <a:rPr lang="en-US" sz="1250" dirty="0" err="1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زر</a:t>
            </a:r>
            <a:r>
              <a:rPr lang="ar-AE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34840" y="2743200"/>
            <a:ext cx="2743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45643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1B2A3B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الفئة المستهدفة: طلاب الجامعات الناطقون بالعربية الذين يتعلمون تطوير الويب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0965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B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file extension: .arweb  →  outputs: output.html + output.css + output.js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مراحل المترجم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1417320"/>
            <a:ext cx="1051560" cy="868680"/>
          </a:xfrm>
          <a:prstGeom prst="roundRect">
            <a:avLst>
              <a:gd name="adj" fmla="val 10526"/>
            </a:avLst>
          </a:prstGeom>
          <a:solidFill>
            <a:srgbClr val="162234"/>
          </a:solidFill>
          <a:ln w="25400">
            <a:solidFill>
              <a:srgbClr val="00BFA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8932" y="1234440"/>
            <a:ext cx="310896" cy="310896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8932" y="1234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444752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.arweb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9842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file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280160" y="1851660"/>
            <a:ext cx="192024" cy="0"/>
          </a:xfrm>
          <a:prstGeom prst="line">
            <a:avLst/>
          </a:prstGeom>
          <a:noFill/>
          <a:ln w="25400">
            <a:solidFill>
              <a:srgbClr val="00BF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72184" y="1417320"/>
            <a:ext cx="1051560" cy="868680"/>
          </a:xfrm>
          <a:prstGeom prst="roundRect">
            <a:avLst>
              <a:gd name="adj" fmla="val 10526"/>
            </a:avLst>
          </a:prstGeom>
          <a:solidFill>
            <a:srgbClr val="162234"/>
          </a:solidFill>
          <a:ln w="25400">
            <a:solidFill>
              <a:srgbClr val="5B9BD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42516" y="1234440"/>
            <a:ext cx="310896" cy="310896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42516" y="1234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17904" y="1444752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17904" y="19842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523744" y="1851660"/>
            <a:ext cx="192024" cy="0"/>
          </a:xfrm>
          <a:prstGeom prst="line">
            <a:avLst/>
          </a:prstGeom>
          <a:noFill/>
          <a:ln w="25400">
            <a:solidFill>
              <a:srgbClr val="5B9B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15768" y="1417320"/>
            <a:ext cx="1051560" cy="868680"/>
          </a:xfrm>
          <a:prstGeom prst="roundRect">
            <a:avLst>
              <a:gd name="adj" fmla="val 10526"/>
            </a:avLst>
          </a:prstGeom>
          <a:solidFill>
            <a:srgbClr val="162234"/>
          </a:solidFill>
          <a:ln w="25400">
            <a:solidFill>
              <a:srgbClr val="70AD47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086100" y="1234440"/>
            <a:ext cx="310896" cy="310896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86100" y="1234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61488" y="1444752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61488" y="19842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tree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767328" y="1851660"/>
            <a:ext cx="192024" cy="0"/>
          </a:xfrm>
          <a:prstGeom prst="line">
            <a:avLst/>
          </a:prstGeom>
          <a:noFill/>
          <a:ln w="25400">
            <a:solidFill>
              <a:srgbClr val="70AD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59352" y="1417320"/>
            <a:ext cx="1051560" cy="868680"/>
          </a:xfrm>
          <a:prstGeom prst="roundRect">
            <a:avLst>
              <a:gd name="adj" fmla="val 10526"/>
            </a:avLst>
          </a:prstGeom>
          <a:solidFill>
            <a:srgbClr val="162234"/>
          </a:solidFill>
          <a:ln w="25400">
            <a:solidFill>
              <a:srgbClr val="ED7D31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29684" y="1234440"/>
            <a:ext cx="310896" cy="310896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29684" y="1234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005072" y="1444752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05072" y="19842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AST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010912" y="1851660"/>
            <a:ext cx="192024" cy="0"/>
          </a:xfrm>
          <a:prstGeom prst="line">
            <a:avLst/>
          </a:prstGeom>
          <a:noFill/>
          <a:ln w="25400">
            <a:solidFill>
              <a:srgbClr val="ED7D3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02936" y="1417320"/>
            <a:ext cx="1051560" cy="868680"/>
          </a:xfrm>
          <a:prstGeom prst="roundRect">
            <a:avLst>
              <a:gd name="adj" fmla="val 10526"/>
            </a:avLst>
          </a:prstGeom>
          <a:solidFill>
            <a:srgbClr val="162234"/>
          </a:solidFill>
          <a:ln w="25400">
            <a:solidFill>
              <a:srgbClr val="A066AC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573268" y="1234440"/>
            <a:ext cx="310896" cy="310896"/>
          </a:xfrm>
          <a:prstGeom prst="ellipse">
            <a:avLst/>
          </a:prstGeom>
          <a:solidFill>
            <a:srgbClr val="A066AC"/>
          </a:solidFill>
          <a:ln w="12700">
            <a:solidFill>
              <a:srgbClr val="A066A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3268" y="1234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48656" y="1444752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48656" y="19842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checking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254496" y="1851660"/>
            <a:ext cx="192024" cy="0"/>
          </a:xfrm>
          <a:prstGeom prst="line">
            <a:avLst/>
          </a:prstGeom>
          <a:noFill/>
          <a:ln w="25400">
            <a:solidFill>
              <a:srgbClr val="A066A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46520" y="1417320"/>
            <a:ext cx="1051560" cy="868680"/>
          </a:xfrm>
          <a:prstGeom prst="roundRect">
            <a:avLst>
              <a:gd name="adj" fmla="val 10526"/>
            </a:avLst>
          </a:prstGeom>
          <a:solidFill>
            <a:srgbClr val="162234"/>
          </a:solidFill>
          <a:ln w="25400">
            <a:solidFill>
              <a:srgbClr val="D4AF37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16852" y="1234440"/>
            <a:ext cx="310896" cy="310896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16852" y="1234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92240" y="1444752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92240" y="19842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code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498080" y="1851660"/>
            <a:ext cx="192024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90104" y="1417320"/>
            <a:ext cx="1051560" cy="868680"/>
          </a:xfrm>
          <a:prstGeom prst="roundRect">
            <a:avLst>
              <a:gd name="adj" fmla="val 10526"/>
            </a:avLst>
          </a:prstGeom>
          <a:solidFill>
            <a:srgbClr val="162234"/>
          </a:solidFill>
          <a:ln w="25400">
            <a:solidFill>
              <a:srgbClr val="FF5252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060436" y="1234440"/>
            <a:ext cx="310896" cy="310896"/>
          </a:xfrm>
          <a:prstGeom prst="ellipse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60436" y="1234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735824" y="1444752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HTML+CSS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+JS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735824" y="19842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37160" y="26060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 المصدر بامتداد .arweb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380744" y="26060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يقرأ الحروف ويولّد التوكنز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624328" y="26060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يتحقق من التركيب النحوي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867912" y="26060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يبني شجرة التعبيرات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111496" y="26060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يتحقق من الأنواع والدلالات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355080" y="26060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يولّد كود HTML/CSS/JS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598664" y="26060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ملفات جاهزة للمتصفح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371600" y="4389120"/>
            <a:ext cx="6400800" cy="438912"/>
          </a:xfrm>
          <a:prstGeom prst="roundRect">
            <a:avLst>
              <a:gd name="adj" fmla="val 16667"/>
            </a:avLst>
          </a:prstGeom>
          <a:solidFill>
            <a:srgbClr val="1B2A3B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3" name="Text 51"/>
          <p:cNvSpPr/>
          <p:nvPr/>
        </p:nvSpPr>
        <p:spPr>
          <a:xfrm>
            <a:off x="1371600" y="4407408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 ·  ANTLR4 (Python3 target)  ·  Custom .g4 Grammar files</a:t>
            </a:r>
            <a:endParaRPr lang="en-US" sz="11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1F33671-580C-65BA-CA25-4A110DEAF7E4}"/>
              </a:ext>
            </a:extLst>
          </p:cNvPr>
          <p:cNvSpPr txBox="1"/>
          <p:nvPr/>
        </p:nvSpPr>
        <p:spPr>
          <a:xfrm>
            <a:off x="1025652" y="3440144"/>
            <a:ext cx="691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dirty="0">
                <a:solidFill>
                  <a:schemeClr val="bg1"/>
                </a:solidFill>
              </a:rPr>
              <a:t>لمعالجة أخطاء زمن التنفيذ تم تجميع هذه الأخطاء في ملف </a:t>
            </a:r>
            <a:r>
              <a:rPr lang="de-DE" dirty="0">
                <a:solidFill>
                  <a:schemeClr val="bg1"/>
                </a:solidFill>
              </a:rPr>
              <a:t> text </a:t>
            </a:r>
            <a:r>
              <a:rPr lang="ar-SY" dirty="0">
                <a:solidFill>
                  <a:schemeClr val="bg1"/>
                </a:solidFill>
              </a:rPr>
              <a:t>وترجمتها لتعرض للمستخدم 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 عملي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 — Input vs Output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16000"/>
            <a:ext cx="4160520" cy="3566160"/>
          </a:xfrm>
          <a:prstGeom prst="roundRect">
            <a:avLst>
              <a:gd name="adj" fmla="val 2564"/>
            </a:avLst>
          </a:prstGeom>
          <a:solidFill>
            <a:srgbClr val="0A1520"/>
          </a:solidFill>
          <a:ln w="19050">
            <a:solidFill>
              <a:srgbClr val="D4AF37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كود عربي ويب (.arweb)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389888"/>
            <a:ext cx="3977640" cy="3063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rtl="1"/>
            <a:r>
              <a:rPr lang="ar-AE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 err="1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قسم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 err="1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معرف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ar-AE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</a:t>
            </a:r>
            <a:r>
              <a:rPr lang="en-US" sz="1050" dirty="0" err="1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رئيسي</a:t>
            </a:r>
            <a:r>
              <a:rPr lang="ar-AE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ar-AE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ar-AE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 err="1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زر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 err="1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معرف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ar-AE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زر١</a:t>
            </a:r>
            <a:r>
              <a:rPr lang="ar-AE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ar-AE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105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اضغط</a:t>
            </a:r>
            <a:r>
              <a:rPr lang="ar-AE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ar-AE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&lt;/ز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ر</a:t>
            </a:r>
            <a:r>
              <a:rPr lang="ar-AE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ar-AE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050" dirty="0" err="1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قسم</a:t>
            </a:r>
            <a:r>
              <a:rPr lang="ar-AE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50" b="1" dirty="0" err="1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ثابت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 err="1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أرقام</a:t>
            </a:r>
            <a:r>
              <a:rPr lang="ar-AE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 err="1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عدد</a:t>
            </a:r>
            <a:r>
              <a:rPr lang="en-US" sz="105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  <a:r>
              <a:rPr lang="en-US" sz="105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[]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١، ٢، ٣</a:t>
            </a:r>
            <a:r>
              <a:rPr lang="en-US" sz="105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؛
</a:t>
            </a:r>
            <a:r>
              <a:rPr lang="en-US" sz="1050" b="1" dirty="0" err="1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الوثيقة</a:t>
            </a:r>
            <a:r>
              <a:rPr lang="en-US" sz="1050" dirty="0" err="1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.احضرعنصر</a:t>
            </a:r>
            <a:r>
              <a:rPr lang="ar-AE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زر١</a:t>
            </a:r>
            <a:r>
              <a:rPr lang="ar-AE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ar-SY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،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 “click”</a:t>
            </a:r>
            <a:r>
              <a:rPr lang="ar-SY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>
              <a:solidFill>
                <a:srgbClr val="DCDCAA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algn="r" rtl="1"/>
            <a:r>
              <a:rPr lang="en-US" sz="1050" b="1" dirty="0" err="1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دالة</a:t>
            </a:r>
            <a:r>
              <a:rPr lang="ar-AE" sz="105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(){</a:t>
            </a:r>
          </a:p>
          <a:p>
            <a:pPr algn="r" rtl="1"/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 err="1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تنبيه</a:t>
            </a:r>
            <a:r>
              <a:rPr lang="ar-AE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("</a:t>
            </a:r>
            <a:r>
              <a:rPr lang="en-US" sz="1050" dirty="0" err="1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مرحبا</a:t>
            </a:r>
            <a:r>
              <a:rPr lang="ar-AE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r>
              <a:rPr lang="ar-AE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r>
              <a:rPr lang="ar-AE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ar-AE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؛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</a:p>
          <a:p>
            <a:pPr algn="r" rtl="1"/>
            <a:r>
              <a:rPr lang="en-US" sz="1050" b="1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ar-AE" sz="105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ar-AE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ar-AE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؛ 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62272" y="2779776"/>
            <a:ext cx="256032" cy="0"/>
          </a:xfrm>
          <a:prstGeom prst="line">
            <a:avLst/>
          </a:prstGeom>
          <a:noFill/>
          <a:ln w="3175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9160" y="1005840"/>
            <a:ext cx="4160520" cy="3566160"/>
          </a:xfrm>
          <a:prstGeom prst="roundRect">
            <a:avLst>
              <a:gd name="adj" fmla="val 2564"/>
            </a:avLst>
          </a:prstGeom>
          <a:solidFill>
            <a:srgbClr val="0A1520"/>
          </a:solidFill>
          <a:ln w="19050">
            <a:solidFill>
              <a:srgbClr val="00BFA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0515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الناتج (HTML + JS)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00600" y="1389888"/>
            <a:ext cx="3977640" cy="3063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HTML --&gt;
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="ryysy"&gt;
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="zr1"&gt;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اضغط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
&lt;/div&gt;
</a:t>
            </a: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JS
</a:t>
            </a:r>
            <a:r>
              <a:rPr lang="en-US" sz="105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arqam = [1, 2, 3];
</a:t>
            </a:r>
            <a:r>
              <a:rPr lang="en-US" sz="105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.getElementById("zr1")
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.onclick = </a:t>
            </a:r>
            <a:r>
              <a:rPr lang="en-US" sz="105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
</a:t>
            </a:r>
            <a:r>
              <a:rPr lang="en-US" sz="105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("مرحبا!");
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274320"/>
            <a:ext cx="2286000" cy="2286000"/>
          </a:xfrm>
          <a:prstGeom prst="ellipse">
            <a:avLst/>
          </a:prstGeom>
          <a:solidFill>
            <a:srgbClr val="D4AF37">
              <a:alpha val="12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474720"/>
            <a:ext cx="1828800" cy="1828800"/>
          </a:xfrm>
          <a:prstGeom prst="ellipse">
            <a:avLst/>
          </a:prstGeom>
          <a:solidFill>
            <a:srgbClr val="00BFA5">
              <a:alpha val="12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الخلاصة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069080" cy="1097280"/>
          </a:xfrm>
          <a:prstGeom prst="roundRect">
            <a:avLst>
              <a:gd name="adj" fmla="val 10000"/>
            </a:avLst>
          </a:prstGeom>
          <a:solidFill>
            <a:srgbClr val="162234"/>
          </a:solidFill>
          <a:ln w="19050">
            <a:solidFill>
              <a:srgbClr val="D4AF37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🔤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1170432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كلمات مفتاحية عربية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keywords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069080" cy="1097280"/>
          </a:xfrm>
          <a:prstGeom prst="roundRect">
            <a:avLst>
              <a:gd name="adj" fmla="val 10000"/>
            </a:avLst>
          </a:prstGeom>
          <a:solidFill>
            <a:srgbClr val="162234"/>
          </a:solidFill>
          <a:ln w="19050">
            <a:solidFill>
              <a:srgbClr val="00BFA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64608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92040" y="1170432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يُولّد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HTML + CSS + JS</a:t>
            </a:r>
            <a:r>
              <a:rPr lang="ar-AE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حقيقي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664208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browser-ready output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4069080" cy="1097280"/>
          </a:xfrm>
          <a:prstGeom prst="roundRect">
            <a:avLst>
              <a:gd name="adj" fmla="val 10000"/>
            </a:avLst>
          </a:prstGeom>
          <a:solidFill>
            <a:srgbClr val="162234"/>
          </a:solidFill>
          <a:ln w="19050">
            <a:solidFill>
              <a:srgbClr val="5B9BD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15" name="Text 13"/>
          <p:cNvSpPr/>
          <p:nvPr/>
        </p:nvSpPr>
        <p:spPr>
          <a:xfrm>
            <a:off x="475488" y="25146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2920" y="2496312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يدعم مصفوفات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ودوال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</a:t>
            </a:r>
            <a:r>
              <a:rPr lang="ar-AE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Y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بشكل بسيط ال 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2990088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functions, DOM, events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423160"/>
            <a:ext cx="4069080" cy="1097280"/>
          </a:xfrm>
          <a:prstGeom prst="roundRect">
            <a:avLst>
              <a:gd name="adj" fmla="val 10000"/>
            </a:avLst>
          </a:prstGeom>
          <a:solidFill>
            <a:srgbClr val="162234"/>
          </a:solidFill>
          <a:ln w="19050">
            <a:solidFill>
              <a:srgbClr val="70AD47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64608" y="25146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🐍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92040" y="2496312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مبني بـ ANTLR4</a:t>
            </a:r>
            <a:r>
              <a:rPr lang="ar-AE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 Python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2990088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ANTLR4 &amp; Python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639312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1B2A3B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648456"/>
            <a:ext cx="822960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400" dirty="0">
                <a:hlinkClick r:id="rId3"/>
              </a:rPr>
              <a:t>raneemo28/</a:t>
            </a:r>
            <a:r>
              <a:rPr lang="en-US" sz="1400" dirty="0" err="1">
                <a:hlinkClick r:id="rId3"/>
              </a:rPr>
              <a:t>Arabic_Compiler</a:t>
            </a:r>
            <a:r>
              <a:rPr lang="en-US" sz="1400" dirty="0">
                <a:hlinkClick r:id="rId3"/>
              </a:rPr>
              <a:t> </a:t>
            </a:r>
            <a:r>
              <a:rPr lang="en-US" sz="1400" dirty="0"/>
              <a:t> </a:t>
            </a:r>
            <a:r>
              <a:rPr lang="en-US" sz="1300" dirty="0">
                <a:solidFill>
                  <a:srgbClr val="00B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[رابط الريبو]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4279392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D4AF37">
              <a:alpha val="12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288536"/>
            <a:ext cx="8229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0C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"أول خطوة نحو برمجة عربية حقيقية"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433</Words>
  <Application>Microsoft Office PowerPoint</Application>
  <PresentationFormat>On-screen Show (16:9)</PresentationFormat>
  <Paragraphs>83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مترجم عربي ويب (.arweb)</dc:title>
  <dc:subject>PptxGenJS Presentation</dc:subject>
  <dc:creator>PptxGenJS</dc:creator>
  <cp:lastModifiedBy>Alesar Othman</cp:lastModifiedBy>
  <cp:revision>8</cp:revision>
  <dcterms:created xsi:type="dcterms:W3CDTF">2026-06-24T14:40:34Z</dcterms:created>
  <dcterms:modified xsi:type="dcterms:W3CDTF">2026-06-25T06:19:30Z</dcterms:modified>
</cp:coreProperties>
</file>